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2" r:id="rId4"/>
    <p:sldId id="263" r:id="rId5"/>
    <p:sldId id="264" r:id="rId6"/>
    <p:sldId id="265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  <a:srgbClr val="C18989"/>
    <a:srgbClr val="D9D9D9"/>
    <a:srgbClr val="46B1E1"/>
    <a:srgbClr val="84E2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C01007-C0CE-A36A-F371-93319B2F56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B651EA2-6D5F-FAF6-133C-031DEDD51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AC248D9-F5B2-1E6E-E1CF-5248D14F3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07A99F2-3B2B-E220-810C-DABBD1478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1D98C3-3F23-6E59-3E83-13886C8FA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8594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113124-F1A1-DA64-43FA-9610F3BCC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3D87D7-7CDB-D7A4-370D-50ABCE8F05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F1C6CE-11AF-41FF-4038-F2FBB768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536AAF-B7E3-56E6-AAED-971F071A7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ACC407-5816-C1B2-3A6E-DD7DCDF09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269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D1CE69-E632-3A05-93FE-23DFE8E29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D17BC36-00D6-2D3E-81E8-A0E086F58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7B9FA6-4B62-EC18-49B0-EC94605C5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AB1650-5783-ED4E-7DBF-47CD5B6F9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0682A5E-1D2C-4BA6-3E30-350BD6B98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268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1C2413-05B3-1349-56EE-38EE73C41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9741A8-249B-619F-166D-BACC228BA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D54F1F-CF32-15A8-A140-91ED33ADF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5821E36-DE9D-2F87-26EE-91B5DCB2F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AFC845-C9CC-AC57-E72B-53A937D13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82EEC50-26AC-1868-AB51-659DEA83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5608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5F3246-63B7-123B-DCF0-8FD07BFA7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738272A-44D9-28B4-5FDD-2CB843FA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3D2573C-466F-2505-F976-70CD63CE74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2CC0402-058B-3FED-0F14-588F0DE293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E7D22CDF-56AC-D983-CB30-CC263BAC78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931E12C-75BF-6860-914C-028ADA01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9CB8027-3E24-FC47-BDA6-2FC5C081D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7459996-6497-C8D6-789C-BDFF79D5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179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0A8366-87B5-55EE-C23A-66099BAAB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7291433-D518-2E4F-1721-77F3C5F46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5DBA56F-954A-EA04-2D59-C527CD02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B3EB0C-1684-F2D4-32CC-44B4A492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9138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C270FF3-3AFC-3511-F674-B4D1CB90F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7FD90B0-1CA2-5F7D-B69A-55BEB8968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DD3B2A-0FEC-7DC0-852D-F519E3DB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399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6A3F74-A1C5-F40F-A7D0-EE1E9E09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107CC0-E244-0689-6FED-A94A86C51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5190FC7-B060-F446-D254-93D297CBC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7B9C94D-F1F2-8543-0E86-C8B484D6D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A022A2-7A4B-93DD-EB0D-C0413E77E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E90738-1293-829E-18AA-936982D89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2923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0043E0-8B74-C09B-C669-9321B9F4D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C66123F-544F-458F-7D71-05CFD96F11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28076EF-DAA1-A6D5-B85E-2CA7D8967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1BFE18-A6BD-E4FA-9E90-674290DB0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8837AB-CBB6-5C46-63C8-639E5C967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9947F47-A218-0C7E-F824-E46D7778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715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2D8C9-CF46-4EF1-2CB4-8D7009AE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A5A90D9-B720-8DA6-B9E8-24DCD10F4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441675-DB2D-6F28-C4D4-48CE5AC9D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F2817D-CBE5-36B7-7DD0-6ED98F9F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089D7F-1A6E-7B34-0096-6F0304DBB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803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4156DBD-B2B5-7236-0491-50D04556E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872F5AE-558C-54BB-48E1-4A84BB0B3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A17C9D9-34CE-2D5E-66EF-971B8D8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CB9118C-803C-CF8B-F531-F55829A90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67E200-848B-AE68-4159-D48674762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0428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864A944-6CD7-5E20-29BE-87D79133B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F7D8DF-8D8B-C7E4-6721-649083236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7552F80-1B69-CF32-528B-2778A20EE0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208F1E-54EC-4814-900A-CB8FD03D519F}" type="datetimeFigureOut">
              <a:rPr lang="de-DE" smtClean="0"/>
              <a:t>02.11.2025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7F26E0-B338-5915-BAA8-855219505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21EF1A-C6C8-16D7-CB78-0E64D9667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5DCED-A151-4A3E-B4A0-B7653FF7D9B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1289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C4796-4DBF-37B7-B004-863C006A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9C9F88-83A2-9EA2-2543-CB4688C644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55BF3F9-66A5-E5B7-661D-FC2937C570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2343875-3049-15CA-6217-1462EDCFB8A9}"/>
              </a:ext>
            </a:extLst>
          </p:cNvPr>
          <p:cNvSpPr/>
          <p:nvPr/>
        </p:nvSpPr>
        <p:spPr>
          <a:xfrm>
            <a:off x="0" y="0"/>
            <a:ext cx="30492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9893A74-B974-8F98-2B2F-FC6B2C83E1A0}"/>
              </a:ext>
            </a:extLst>
          </p:cNvPr>
          <p:cNvSpPr/>
          <p:nvPr/>
        </p:nvSpPr>
        <p:spPr>
          <a:xfrm>
            <a:off x="3048600" y="0"/>
            <a:ext cx="3049200" cy="6858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6185EF2-9061-22EC-1235-FFCFD2BD220E}"/>
              </a:ext>
            </a:extLst>
          </p:cNvPr>
          <p:cNvSpPr/>
          <p:nvPr/>
        </p:nvSpPr>
        <p:spPr>
          <a:xfrm>
            <a:off x="6085568" y="0"/>
            <a:ext cx="3049200" cy="6858000"/>
          </a:xfrm>
          <a:prstGeom prst="rect">
            <a:avLst/>
          </a:prstGeom>
          <a:solidFill>
            <a:srgbClr val="C1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C542DE5-7A4C-2C33-0114-ACBD1CCCC2DF}"/>
              </a:ext>
            </a:extLst>
          </p:cNvPr>
          <p:cNvSpPr/>
          <p:nvPr/>
        </p:nvSpPr>
        <p:spPr>
          <a:xfrm>
            <a:off x="9142800" y="0"/>
            <a:ext cx="3049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3B868C-C682-C48F-DA8A-DF8AD1092E5A}"/>
              </a:ext>
            </a:extLst>
          </p:cNvPr>
          <p:cNvSpPr txBox="1"/>
          <p:nvPr/>
        </p:nvSpPr>
        <p:spPr>
          <a:xfrm>
            <a:off x="146469" y="1119311"/>
            <a:ext cx="289811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Hohe Durchfallquote ~ 10 %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84E291"/>
              </a:solidFill>
            </a:endParaRPr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Lernvolumen sehr hoch für Neueinsteiger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84E291"/>
              </a:solidFill>
            </a:endParaRPr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Bestehende Hilfen nur bedingt genutzt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0515B46-5C97-E4B0-0E63-B1110107F944}"/>
              </a:ext>
            </a:extLst>
          </p:cNvPr>
          <p:cNvSpPr txBox="1"/>
          <p:nvPr/>
        </p:nvSpPr>
        <p:spPr>
          <a:xfrm>
            <a:off x="3124142" y="1197620"/>
            <a:ext cx="289811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Benutzerfreundliche Web-Anwendung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Wiederholungen, Übungen und Quizze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Begleitet aktiv durch das Semester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Ziel: mehr Bestandenen Prüfungen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86E306F-5A1F-A80A-865F-7F622FCB6E86}"/>
              </a:ext>
            </a:extLst>
          </p:cNvPr>
          <p:cNvSpPr txBox="1"/>
          <p:nvPr/>
        </p:nvSpPr>
        <p:spPr>
          <a:xfrm>
            <a:off x="639398" y="534536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84E291"/>
                </a:solidFill>
              </a:rPr>
              <a:t>Warum?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EE6C615-DBCB-72DF-E861-90291A6219B7}"/>
              </a:ext>
            </a:extLst>
          </p:cNvPr>
          <p:cNvSpPr txBox="1"/>
          <p:nvPr/>
        </p:nvSpPr>
        <p:spPr>
          <a:xfrm>
            <a:off x="3907122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46B1E1"/>
                </a:solidFill>
              </a:rPr>
              <a:t>Vision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E5A8F03-593C-2748-5962-A8C3197289EA}"/>
              </a:ext>
            </a:extLst>
          </p:cNvPr>
          <p:cNvSpPr txBox="1"/>
          <p:nvPr/>
        </p:nvSpPr>
        <p:spPr>
          <a:xfrm>
            <a:off x="7078026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D9D9D9"/>
                </a:solidFill>
              </a:rPr>
              <a:t>Was?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A36B2FF-A94E-C6B3-FCF6-B85C1BA4FF06}"/>
              </a:ext>
            </a:extLst>
          </p:cNvPr>
          <p:cNvSpPr txBox="1"/>
          <p:nvPr/>
        </p:nvSpPr>
        <p:spPr>
          <a:xfrm>
            <a:off x="6236053" y="1177802"/>
            <a:ext cx="289811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Interaktive Lernmodule &amp; Quizze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Fortschrittsleiste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Vorstellung der App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Betreuung der Anwendung im ersten Semester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BE6B40B-FEBA-F876-50FA-1E3A738685F1}"/>
              </a:ext>
            </a:extLst>
          </p:cNvPr>
          <p:cNvSpPr txBox="1"/>
          <p:nvPr/>
        </p:nvSpPr>
        <p:spPr>
          <a:xfrm>
            <a:off x="9893466" y="534533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C18989"/>
                </a:solidFill>
              </a:rPr>
              <a:t>Nutzen</a:t>
            </a:r>
            <a:endParaRPr lang="de-DE" dirty="0">
              <a:solidFill>
                <a:srgbClr val="C18989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A50BA79-7854-286D-2AAE-51CA2F7234CC}"/>
              </a:ext>
            </a:extLst>
          </p:cNvPr>
          <p:cNvSpPr txBox="1"/>
          <p:nvPr/>
        </p:nvSpPr>
        <p:spPr>
          <a:xfrm>
            <a:off x="9288069" y="1381905"/>
            <a:ext cx="289811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Erleichtert Einstieg in Java Programmierung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Kontinuität im Lernen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Erwartet: geringere Durchfallquote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Grundlagen für Prog II</a:t>
            </a:r>
          </a:p>
        </p:txBody>
      </p:sp>
      <p:pic>
        <p:nvPicPr>
          <p:cNvPr id="6" name="Grafik 5" descr="Ein Bild, das Text, Elektronik, Computer, computer enthält.&#10;&#10;KI-generierte Inhalte können fehlerhaft sein.">
            <a:extLst>
              <a:ext uri="{FF2B5EF4-FFF2-40B4-BE49-F238E27FC236}">
                <a16:creationId xmlns:a16="http://schemas.microsoft.com/office/drawing/2014/main" id="{B42C3C3E-0F60-C97C-9661-32B3B16C68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90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6411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67723-E998-4C43-A54A-A655ADFE6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6D7956-FF72-EF40-DD1A-638E6D82E1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16DCFF2-5443-5CA9-FBF1-E42C9C3513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24B0D85-98CA-4E5F-2BD2-A0B76B10E3A1}"/>
              </a:ext>
            </a:extLst>
          </p:cNvPr>
          <p:cNvSpPr/>
          <p:nvPr/>
        </p:nvSpPr>
        <p:spPr>
          <a:xfrm>
            <a:off x="0" y="0"/>
            <a:ext cx="30492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48293AEF-B2CC-F216-9BD9-697618343634}"/>
              </a:ext>
            </a:extLst>
          </p:cNvPr>
          <p:cNvSpPr/>
          <p:nvPr/>
        </p:nvSpPr>
        <p:spPr>
          <a:xfrm>
            <a:off x="3048600" y="0"/>
            <a:ext cx="3049200" cy="6858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C8275F-4314-EB91-E6E1-CBE5C8114F7E}"/>
              </a:ext>
            </a:extLst>
          </p:cNvPr>
          <p:cNvSpPr/>
          <p:nvPr/>
        </p:nvSpPr>
        <p:spPr>
          <a:xfrm>
            <a:off x="6085568" y="0"/>
            <a:ext cx="3049200" cy="6858000"/>
          </a:xfrm>
          <a:prstGeom prst="rect">
            <a:avLst/>
          </a:prstGeom>
          <a:solidFill>
            <a:srgbClr val="C1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B7F68EB0-1A1E-2113-07E7-9762BC7CC20E}"/>
              </a:ext>
            </a:extLst>
          </p:cNvPr>
          <p:cNvSpPr/>
          <p:nvPr/>
        </p:nvSpPr>
        <p:spPr>
          <a:xfrm>
            <a:off x="9142800" y="0"/>
            <a:ext cx="3049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82BC48EE-DAAE-0611-7188-DEE601016AA9}"/>
              </a:ext>
            </a:extLst>
          </p:cNvPr>
          <p:cNvSpPr txBox="1"/>
          <p:nvPr/>
        </p:nvSpPr>
        <p:spPr>
          <a:xfrm>
            <a:off x="146469" y="1119311"/>
            <a:ext cx="289811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Hohe Durchfallquote ~ 10 %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84E291"/>
              </a:solidFill>
            </a:endParaRPr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Lernvolumen sehr hoch für Neueinsteiger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84E291"/>
              </a:solidFill>
            </a:endParaRPr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Bestehende Hilfen nur bedingt genutzt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FC8317CB-2486-88A1-F756-1E4C1A93A403}"/>
              </a:ext>
            </a:extLst>
          </p:cNvPr>
          <p:cNvSpPr txBox="1"/>
          <p:nvPr/>
        </p:nvSpPr>
        <p:spPr>
          <a:xfrm>
            <a:off x="3124142" y="1197620"/>
            <a:ext cx="289811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Benutzerfreundliche Web-Anwendung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Wiederholungen, Übungen und Quizze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Begleitet aktiv durch das Semester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Ziel: mehr Bestandenen Prüfungen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D610F38-EF69-00A1-3337-0C3E190CEBC0}"/>
              </a:ext>
            </a:extLst>
          </p:cNvPr>
          <p:cNvSpPr txBox="1"/>
          <p:nvPr/>
        </p:nvSpPr>
        <p:spPr>
          <a:xfrm>
            <a:off x="639398" y="534536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84E291"/>
                </a:solidFill>
              </a:rPr>
              <a:t>Warum?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3EEB5C4-E898-0513-3756-9F8B3B5D3EE9}"/>
              </a:ext>
            </a:extLst>
          </p:cNvPr>
          <p:cNvSpPr txBox="1"/>
          <p:nvPr/>
        </p:nvSpPr>
        <p:spPr>
          <a:xfrm>
            <a:off x="3907122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46B1E1"/>
                </a:solidFill>
              </a:rPr>
              <a:t>Vision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38C2741-27CD-0919-4F0B-FE16468EBDF6}"/>
              </a:ext>
            </a:extLst>
          </p:cNvPr>
          <p:cNvSpPr txBox="1"/>
          <p:nvPr/>
        </p:nvSpPr>
        <p:spPr>
          <a:xfrm>
            <a:off x="7078026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D9D9D9"/>
                </a:solidFill>
              </a:rPr>
              <a:t>Was?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ED82FD6-4DAE-AF47-252C-6EACF021747C}"/>
              </a:ext>
            </a:extLst>
          </p:cNvPr>
          <p:cNvSpPr txBox="1"/>
          <p:nvPr/>
        </p:nvSpPr>
        <p:spPr>
          <a:xfrm>
            <a:off x="6236053" y="1177802"/>
            <a:ext cx="289811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Interaktive Lernmodule &amp; Quizze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Fortschrittsleiste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Vorstellung der App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Betreuung der Anwendung im ersten Semester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0DBCA21-8594-BFB5-50A1-306476FAE972}"/>
              </a:ext>
            </a:extLst>
          </p:cNvPr>
          <p:cNvSpPr txBox="1"/>
          <p:nvPr/>
        </p:nvSpPr>
        <p:spPr>
          <a:xfrm>
            <a:off x="9893466" y="534533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C18989"/>
                </a:solidFill>
              </a:rPr>
              <a:t>Nutzen</a:t>
            </a:r>
            <a:endParaRPr lang="de-DE" dirty="0">
              <a:solidFill>
                <a:srgbClr val="C18989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4C9C6343-85BD-371B-25B5-A9200868DF35}"/>
              </a:ext>
            </a:extLst>
          </p:cNvPr>
          <p:cNvSpPr txBox="1"/>
          <p:nvPr/>
        </p:nvSpPr>
        <p:spPr>
          <a:xfrm>
            <a:off x="9288069" y="1381905"/>
            <a:ext cx="289811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Erleichtert Einstieg in Java Programmierung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Kontinuität im Lernen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Erwartet: geringere Durchfallquote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Grundlagen für Prog II</a:t>
            </a:r>
          </a:p>
        </p:txBody>
      </p:sp>
      <p:pic>
        <p:nvPicPr>
          <p:cNvPr id="6" name="Grafik 5" descr="Ein Bild, das Text, Elektronik, Computer, computer enthält.&#10;&#10;KI-generierte Inhalte können fehlerhaft sein.">
            <a:extLst>
              <a:ext uri="{FF2B5EF4-FFF2-40B4-BE49-F238E27FC236}">
                <a16:creationId xmlns:a16="http://schemas.microsoft.com/office/drawing/2014/main" id="{D6E52F31-308B-A7A4-5002-D5D78CD5B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3216" y="0"/>
            <a:ext cx="12290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6405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8AC47-03D8-5616-8AEA-58A1A2033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2B50B4-3857-5024-5272-8BB491A681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9508BE-397D-2ADA-3563-3A307742A4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CC1A9C9-3A44-61EC-1F4A-B5F441210288}"/>
              </a:ext>
            </a:extLst>
          </p:cNvPr>
          <p:cNvSpPr/>
          <p:nvPr/>
        </p:nvSpPr>
        <p:spPr>
          <a:xfrm>
            <a:off x="0" y="0"/>
            <a:ext cx="30492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0535599-DB7D-11D2-D506-D9C8563C1BCE}"/>
              </a:ext>
            </a:extLst>
          </p:cNvPr>
          <p:cNvSpPr/>
          <p:nvPr/>
        </p:nvSpPr>
        <p:spPr>
          <a:xfrm>
            <a:off x="3048600" y="0"/>
            <a:ext cx="3049200" cy="6858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B6E4FD9-87C5-DE8F-8BCF-6A17A39AB191}"/>
              </a:ext>
            </a:extLst>
          </p:cNvPr>
          <p:cNvSpPr/>
          <p:nvPr/>
        </p:nvSpPr>
        <p:spPr>
          <a:xfrm>
            <a:off x="6085568" y="0"/>
            <a:ext cx="3049200" cy="6858000"/>
          </a:xfrm>
          <a:prstGeom prst="rect">
            <a:avLst/>
          </a:prstGeom>
          <a:solidFill>
            <a:srgbClr val="C1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6E01944-0507-72F5-9964-562F7A7FE313}"/>
              </a:ext>
            </a:extLst>
          </p:cNvPr>
          <p:cNvSpPr/>
          <p:nvPr/>
        </p:nvSpPr>
        <p:spPr>
          <a:xfrm>
            <a:off x="9142800" y="0"/>
            <a:ext cx="3049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765C9D1-2FAA-C683-F2C8-88249535588F}"/>
              </a:ext>
            </a:extLst>
          </p:cNvPr>
          <p:cNvSpPr txBox="1"/>
          <p:nvPr/>
        </p:nvSpPr>
        <p:spPr>
          <a:xfrm>
            <a:off x="146469" y="1119311"/>
            <a:ext cx="289811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Hohe Durchfallquote ~ 10 %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84E291"/>
              </a:solidFill>
            </a:endParaRPr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Lernvolumen sehr hoch für Neueinsteiger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84E291"/>
              </a:solidFill>
            </a:endParaRPr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Bestehende Hilfen nur bedingt genutzt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E99975C-3153-66A2-B756-E390E4691E4F}"/>
              </a:ext>
            </a:extLst>
          </p:cNvPr>
          <p:cNvSpPr txBox="1"/>
          <p:nvPr/>
        </p:nvSpPr>
        <p:spPr>
          <a:xfrm>
            <a:off x="3124142" y="1197620"/>
            <a:ext cx="289811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Benutzerfreundliche Web-Anwendung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Wiederholungen, Übungen und Quizze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Begleitet aktiv durch das Semester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Ziel: mehr Bestandenen Prüfungen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883160E-8D63-1763-8B01-F41FECC91EDE}"/>
              </a:ext>
            </a:extLst>
          </p:cNvPr>
          <p:cNvSpPr txBox="1"/>
          <p:nvPr/>
        </p:nvSpPr>
        <p:spPr>
          <a:xfrm>
            <a:off x="639398" y="534536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84E291"/>
                </a:solidFill>
              </a:rPr>
              <a:t>Warum?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BB85B7F-EFB6-DE45-2951-9E77F8A4ED83}"/>
              </a:ext>
            </a:extLst>
          </p:cNvPr>
          <p:cNvSpPr txBox="1"/>
          <p:nvPr/>
        </p:nvSpPr>
        <p:spPr>
          <a:xfrm>
            <a:off x="3907122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46B1E1"/>
                </a:solidFill>
              </a:rPr>
              <a:t>Vision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502663EA-E296-269D-2DEE-2A0BDC63D439}"/>
              </a:ext>
            </a:extLst>
          </p:cNvPr>
          <p:cNvSpPr txBox="1"/>
          <p:nvPr/>
        </p:nvSpPr>
        <p:spPr>
          <a:xfrm>
            <a:off x="7078026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D9D9D9"/>
                </a:solidFill>
              </a:rPr>
              <a:t>Was?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42474CAB-45CF-9259-3B4A-E1C9A5832EA6}"/>
              </a:ext>
            </a:extLst>
          </p:cNvPr>
          <p:cNvSpPr txBox="1"/>
          <p:nvPr/>
        </p:nvSpPr>
        <p:spPr>
          <a:xfrm>
            <a:off x="6236053" y="1177802"/>
            <a:ext cx="289811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Interaktive Lernmodule &amp; Quizze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Fortschrittsleiste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Vorstellung der App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Betreuung der Anwendung im ersten Semester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79F3CF3-2314-D936-D4C9-0DA8C321B582}"/>
              </a:ext>
            </a:extLst>
          </p:cNvPr>
          <p:cNvSpPr txBox="1"/>
          <p:nvPr/>
        </p:nvSpPr>
        <p:spPr>
          <a:xfrm>
            <a:off x="9893466" y="534533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C18989"/>
                </a:solidFill>
              </a:rPr>
              <a:t>Nutzen</a:t>
            </a:r>
            <a:endParaRPr lang="de-DE" dirty="0">
              <a:solidFill>
                <a:srgbClr val="C18989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06AAAAF-11D1-9F16-B4E8-3A554222FCA0}"/>
              </a:ext>
            </a:extLst>
          </p:cNvPr>
          <p:cNvSpPr txBox="1"/>
          <p:nvPr/>
        </p:nvSpPr>
        <p:spPr>
          <a:xfrm>
            <a:off x="9288069" y="1381905"/>
            <a:ext cx="289811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Erleichtert Einstieg in Java Programmierung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Kontinuität im Lernen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Erwartet: geringere Durchfallquote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Grundlagen für Prog II</a:t>
            </a:r>
          </a:p>
        </p:txBody>
      </p:sp>
      <p:pic>
        <p:nvPicPr>
          <p:cNvPr id="6" name="Grafik 5" descr="Ein Bild, das Text, Elektronik, Computer, computer enthält.&#10;&#10;KI-generierte Inhalte können fehlerhaft sein.">
            <a:extLst>
              <a:ext uri="{FF2B5EF4-FFF2-40B4-BE49-F238E27FC236}">
                <a16:creationId xmlns:a16="http://schemas.microsoft.com/office/drawing/2014/main" id="{441AD92B-A258-F2BC-1319-E2DC05407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505" y="0"/>
            <a:ext cx="12290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3795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CCC27-E702-8901-1EA4-9D0FD2C78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E13FDD-E93E-CB4D-6C62-B71FC6B07B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6BBE3BE-1C73-4739-3ED6-9049AC7BD7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5127251-2ED0-E896-F8AC-1B301425A1D8}"/>
              </a:ext>
            </a:extLst>
          </p:cNvPr>
          <p:cNvSpPr/>
          <p:nvPr/>
        </p:nvSpPr>
        <p:spPr>
          <a:xfrm>
            <a:off x="0" y="0"/>
            <a:ext cx="30492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FF8FFEB-784D-D4C0-872D-74FD2AD2DA75}"/>
              </a:ext>
            </a:extLst>
          </p:cNvPr>
          <p:cNvSpPr/>
          <p:nvPr/>
        </p:nvSpPr>
        <p:spPr>
          <a:xfrm>
            <a:off x="3048600" y="0"/>
            <a:ext cx="3049200" cy="6858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56A36CB-0A08-BB57-D109-DECC4E951B50}"/>
              </a:ext>
            </a:extLst>
          </p:cNvPr>
          <p:cNvSpPr/>
          <p:nvPr/>
        </p:nvSpPr>
        <p:spPr>
          <a:xfrm>
            <a:off x="6085568" y="0"/>
            <a:ext cx="3049200" cy="6858000"/>
          </a:xfrm>
          <a:prstGeom prst="rect">
            <a:avLst/>
          </a:prstGeom>
          <a:solidFill>
            <a:srgbClr val="C1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5676A4B8-AA3A-9255-AEE8-E329477A0FB3}"/>
              </a:ext>
            </a:extLst>
          </p:cNvPr>
          <p:cNvSpPr/>
          <p:nvPr/>
        </p:nvSpPr>
        <p:spPr>
          <a:xfrm>
            <a:off x="9142800" y="0"/>
            <a:ext cx="3049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9396B4A7-C8CE-0F59-E2B3-722123C16995}"/>
              </a:ext>
            </a:extLst>
          </p:cNvPr>
          <p:cNvSpPr txBox="1"/>
          <p:nvPr/>
        </p:nvSpPr>
        <p:spPr>
          <a:xfrm>
            <a:off x="146469" y="1119311"/>
            <a:ext cx="289811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Hohe Durchfallquote ~ 10 %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84E291"/>
              </a:solidFill>
            </a:endParaRPr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Lernvolumen sehr hoch für Neueinsteiger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84E291"/>
              </a:solidFill>
            </a:endParaRPr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Bestehende Hilfen nur bedingt genutzt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3A6D03E5-15BB-C070-2A23-CD323911D0FA}"/>
              </a:ext>
            </a:extLst>
          </p:cNvPr>
          <p:cNvSpPr txBox="1"/>
          <p:nvPr/>
        </p:nvSpPr>
        <p:spPr>
          <a:xfrm>
            <a:off x="3124142" y="1197620"/>
            <a:ext cx="289811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Benutzerfreundliche Web-Anwendung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Wiederholungen, Übungen und Quizze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Begleitet aktiv durch das Semester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Ziel: mehr Bestandenen Prüfungen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838D394-17DC-F168-7523-8EB545CA3A86}"/>
              </a:ext>
            </a:extLst>
          </p:cNvPr>
          <p:cNvSpPr txBox="1"/>
          <p:nvPr/>
        </p:nvSpPr>
        <p:spPr>
          <a:xfrm>
            <a:off x="639398" y="534536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84E291"/>
                </a:solidFill>
              </a:rPr>
              <a:t>Warum?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B104609-4949-A651-8651-15EFF3E6D21D}"/>
              </a:ext>
            </a:extLst>
          </p:cNvPr>
          <p:cNvSpPr txBox="1"/>
          <p:nvPr/>
        </p:nvSpPr>
        <p:spPr>
          <a:xfrm>
            <a:off x="3907122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46B1E1"/>
                </a:solidFill>
              </a:rPr>
              <a:t>Vision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F29BC9D2-5AFB-1043-E1AF-AAF76B9ECD19}"/>
              </a:ext>
            </a:extLst>
          </p:cNvPr>
          <p:cNvSpPr txBox="1"/>
          <p:nvPr/>
        </p:nvSpPr>
        <p:spPr>
          <a:xfrm>
            <a:off x="7078026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D9D9D9"/>
                </a:solidFill>
              </a:rPr>
              <a:t>Was?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F91417C-CD0C-D24F-65EA-25BA00D30709}"/>
              </a:ext>
            </a:extLst>
          </p:cNvPr>
          <p:cNvSpPr txBox="1"/>
          <p:nvPr/>
        </p:nvSpPr>
        <p:spPr>
          <a:xfrm>
            <a:off x="6236053" y="1177802"/>
            <a:ext cx="289811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Interaktive Lernmodule &amp; Quizze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Fortschrittsleiste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Vorstellung der App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Betreuung der Anwendung im ersten Semester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E4A98FC-4586-C677-5A48-D55EC8AAB48D}"/>
              </a:ext>
            </a:extLst>
          </p:cNvPr>
          <p:cNvSpPr txBox="1"/>
          <p:nvPr/>
        </p:nvSpPr>
        <p:spPr>
          <a:xfrm>
            <a:off x="9893466" y="534533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dirty="0">
                <a:solidFill>
                  <a:srgbClr val="C18989"/>
                </a:solidFill>
              </a:rPr>
              <a:t>Nutzen</a:t>
            </a:r>
            <a:endParaRPr lang="de-DE" dirty="0">
              <a:solidFill>
                <a:srgbClr val="C18989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B044C71F-FF92-E225-4345-A1DB7D7144CD}"/>
              </a:ext>
            </a:extLst>
          </p:cNvPr>
          <p:cNvSpPr txBox="1"/>
          <p:nvPr/>
        </p:nvSpPr>
        <p:spPr>
          <a:xfrm>
            <a:off x="9288069" y="1381905"/>
            <a:ext cx="289811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Erleichtert Einstieg in Java Programmierung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Kontinuität im Lernen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Erwartet: geringere Durchfallquote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Grundlagen für Prog II</a:t>
            </a:r>
          </a:p>
        </p:txBody>
      </p:sp>
      <p:pic>
        <p:nvPicPr>
          <p:cNvPr id="6" name="Grafik 5" descr="Ein Bild, das Text, Elektronik, Computer, computer enthält.&#10;&#10;KI-generierte Inhalte können fehlerhaft sein.">
            <a:extLst>
              <a:ext uri="{FF2B5EF4-FFF2-40B4-BE49-F238E27FC236}">
                <a16:creationId xmlns:a16="http://schemas.microsoft.com/office/drawing/2014/main" id="{6775A39E-F89B-4453-2409-F3C3D5650D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0832" y="0"/>
            <a:ext cx="12290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68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EE255-0241-73E3-AC12-2E76AF7D0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5D6DA8-19C0-864B-E56B-06C5F71FB4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1254741-1ACD-AC4D-A269-279FB1DA8D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E118E8B-8451-A9CF-3038-7B7ED8F1D969}"/>
              </a:ext>
            </a:extLst>
          </p:cNvPr>
          <p:cNvSpPr/>
          <p:nvPr/>
        </p:nvSpPr>
        <p:spPr>
          <a:xfrm>
            <a:off x="0" y="0"/>
            <a:ext cx="3049200" cy="6858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16F2E521-273D-DFBD-89F8-887729DF852E}"/>
              </a:ext>
            </a:extLst>
          </p:cNvPr>
          <p:cNvSpPr/>
          <p:nvPr/>
        </p:nvSpPr>
        <p:spPr>
          <a:xfrm>
            <a:off x="3048600" y="0"/>
            <a:ext cx="3049200" cy="6858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7271871-C2F5-A4B7-BAE4-AEEE0955A939}"/>
              </a:ext>
            </a:extLst>
          </p:cNvPr>
          <p:cNvSpPr/>
          <p:nvPr/>
        </p:nvSpPr>
        <p:spPr>
          <a:xfrm>
            <a:off x="6085568" y="0"/>
            <a:ext cx="3049200" cy="6858000"/>
          </a:xfrm>
          <a:prstGeom prst="rect">
            <a:avLst/>
          </a:prstGeom>
          <a:solidFill>
            <a:srgbClr val="C1898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2E63F44-7174-911B-18FB-1E4EA49309AD}"/>
              </a:ext>
            </a:extLst>
          </p:cNvPr>
          <p:cNvSpPr/>
          <p:nvPr/>
        </p:nvSpPr>
        <p:spPr>
          <a:xfrm>
            <a:off x="9142800" y="0"/>
            <a:ext cx="3049200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D4B8FA2-09F6-2ACF-2306-F717ABF0EF9F}"/>
              </a:ext>
            </a:extLst>
          </p:cNvPr>
          <p:cNvSpPr txBox="1"/>
          <p:nvPr/>
        </p:nvSpPr>
        <p:spPr>
          <a:xfrm>
            <a:off x="146469" y="1119311"/>
            <a:ext cx="2898115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Hohe Durchfallquote ~ 10 %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84E291"/>
              </a:solidFill>
            </a:endParaRPr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Lernvolumen sehr hoch für Neueinsteiger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400" dirty="0">
              <a:solidFill>
                <a:srgbClr val="84E291"/>
              </a:solidFill>
            </a:endParaRPr>
          </a:p>
          <a:p>
            <a:endParaRPr lang="de-DE" sz="2400" dirty="0">
              <a:solidFill>
                <a:srgbClr val="84E29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84E291"/>
                </a:solidFill>
              </a:rPr>
              <a:t>Bestehende Hilfen nur bedingt genutzt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03588CD-C832-BA1A-BE87-D4E5C8CC5A3C}"/>
              </a:ext>
            </a:extLst>
          </p:cNvPr>
          <p:cNvSpPr txBox="1"/>
          <p:nvPr/>
        </p:nvSpPr>
        <p:spPr>
          <a:xfrm>
            <a:off x="3124142" y="1197620"/>
            <a:ext cx="2898115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Benutzerfreundliche Web-Anwendung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Wiederholungen, Übungen und Quizze</a:t>
            </a:r>
          </a:p>
          <a:p>
            <a:endParaRPr lang="de-DE" sz="24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Begleitet aktiv durch das Semester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46B1E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46B1E1"/>
                </a:solidFill>
              </a:rPr>
              <a:t>Ziel: mehr Bestandenen Prüfungen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2073B92-CBBA-1348-BA26-551D2F588ADF}"/>
              </a:ext>
            </a:extLst>
          </p:cNvPr>
          <p:cNvSpPr txBox="1"/>
          <p:nvPr/>
        </p:nvSpPr>
        <p:spPr>
          <a:xfrm>
            <a:off x="639398" y="534536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84E291"/>
                </a:solidFill>
              </a:rPr>
              <a:t>Warum?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457D32B-861B-3609-A134-01F863B6C70E}"/>
              </a:ext>
            </a:extLst>
          </p:cNvPr>
          <p:cNvSpPr txBox="1"/>
          <p:nvPr/>
        </p:nvSpPr>
        <p:spPr>
          <a:xfrm>
            <a:off x="3907122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46B1E1"/>
                </a:solidFill>
              </a:rPr>
              <a:t>Vision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390CEF44-DB46-B76D-4762-25B0E3D9F1B1}"/>
              </a:ext>
            </a:extLst>
          </p:cNvPr>
          <p:cNvSpPr txBox="1"/>
          <p:nvPr/>
        </p:nvSpPr>
        <p:spPr>
          <a:xfrm>
            <a:off x="7078026" y="534534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D9D9D9"/>
                </a:solidFill>
              </a:rPr>
              <a:t>Was?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8BE73B76-0B45-64E3-A95E-8CF0C908493E}"/>
              </a:ext>
            </a:extLst>
          </p:cNvPr>
          <p:cNvSpPr txBox="1"/>
          <p:nvPr/>
        </p:nvSpPr>
        <p:spPr>
          <a:xfrm>
            <a:off x="6236053" y="1177802"/>
            <a:ext cx="2898115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Interaktive Lernmodule &amp; Quizze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Fortschrittsleiste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Vorstellung der App</a:t>
            </a:r>
          </a:p>
          <a:p>
            <a:endParaRPr lang="de-DE" sz="2000" dirty="0">
              <a:solidFill>
                <a:srgbClr val="D9D9D9"/>
              </a:solidFill>
            </a:endParaRPr>
          </a:p>
          <a:p>
            <a:endParaRPr lang="de-DE" sz="2000" dirty="0">
              <a:solidFill>
                <a:srgbClr val="D9D9D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D9D9D9"/>
                </a:solidFill>
              </a:rPr>
              <a:t>Betreuung der Anwendung im ersten Semester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613844DC-3A0B-7049-ED2D-7A80D69E3011}"/>
              </a:ext>
            </a:extLst>
          </p:cNvPr>
          <p:cNvSpPr txBox="1"/>
          <p:nvPr/>
        </p:nvSpPr>
        <p:spPr>
          <a:xfrm>
            <a:off x="9980041" y="528336"/>
            <a:ext cx="20647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200" b="1" dirty="0">
                <a:solidFill>
                  <a:srgbClr val="C18989"/>
                </a:solidFill>
              </a:rPr>
              <a:t>Nutzen</a:t>
            </a:r>
            <a:endParaRPr lang="de-DE" b="1" dirty="0">
              <a:solidFill>
                <a:srgbClr val="C18989"/>
              </a:solidFill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FF4E82E-BDE1-0590-0518-4069A4703A97}"/>
              </a:ext>
            </a:extLst>
          </p:cNvPr>
          <p:cNvSpPr txBox="1"/>
          <p:nvPr/>
        </p:nvSpPr>
        <p:spPr>
          <a:xfrm>
            <a:off x="9288069" y="1381905"/>
            <a:ext cx="2898115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Erleichtert Einstieg in Java Programmierung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Kontinuität im Lernen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Erwartet: geringere Durchfallquote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rgbClr val="C18989"/>
              </a:solidFill>
            </a:endParaRPr>
          </a:p>
          <a:p>
            <a:endParaRPr lang="de-DE" sz="2000" dirty="0">
              <a:solidFill>
                <a:srgbClr val="C18989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C18989"/>
                </a:solidFill>
              </a:rPr>
              <a:t>Bessere Grundlagen für Prog II</a:t>
            </a:r>
          </a:p>
        </p:txBody>
      </p:sp>
      <p:pic>
        <p:nvPicPr>
          <p:cNvPr id="6" name="Grafik 5" descr="Ein Bild, das Text, Elektronik, Computer, computer enthält.&#10;&#10;KI-generierte Inhalte können fehlerhaft sein.">
            <a:extLst>
              <a:ext uri="{FF2B5EF4-FFF2-40B4-BE49-F238E27FC236}">
                <a16:creationId xmlns:a16="http://schemas.microsoft.com/office/drawing/2014/main" id="{0941EE4C-3660-5FC1-A974-B91CD3AF1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0"/>
            <a:ext cx="12290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5211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5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 descr="Ein Bild, das Text, Elektronik, Computer, computer enthält.&#10;&#10;KI-generierte Inhalte können fehlerhaft sein.">
            <a:extLst>
              <a:ext uri="{FF2B5EF4-FFF2-40B4-BE49-F238E27FC236}">
                <a16:creationId xmlns:a16="http://schemas.microsoft.com/office/drawing/2014/main" id="{002AEE54-93AF-64AA-F9F9-988FC9C993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1819"/>
            <a:ext cx="12192001" cy="6869819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4C6B97A6-6BD0-0A01-97C2-30AB7D60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155" y="1957951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de-DE" dirty="0"/>
              <a:t>		      </a:t>
            </a:r>
            <a:r>
              <a:rPr lang="de-DE" sz="8900" dirty="0">
                <a:solidFill>
                  <a:srgbClr val="00B050"/>
                </a:solidFill>
              </a:rPr>
              <a:t>„</a:t>
            </a:r>
            <a:r>
              <a:rPr lang="de-DE" sz="8900" dirty="0" err="1">
                <a:solidFill>
                  <a:srgbClr val="00B050"/>
                </a:solidFill>
              </a:rPr>
              <a:t>Proginator</a:t>
            </a:r>
            <a:r>
              <a:rPr lang="de-DE" sz="8900" dirty="0">
                <a:solidFill>
                  <a:srgbClr val="00B050"/>
                </a:solidFill>
              </a:rPr>
              <a:t>“</a:t>
            </a:r>
            <a:br>
              <a:rPr lang="de-DE" dirty="0">
                <a:solidFill>
                  <a:srgbClr val="00B050"/>
                </a:solidFill>
              </a:rPr>
            </a:br>
            <a:br>
              <a:rPr lang="de-DE" dirty="0">
                <a:solidFill>
                  <a:srgbClr val="00B050"/>
                </a:solidFill>
              </a:rPr>
            </a:br>
            <a:br>
              <a:rPr lang="de-DE" dirty="0">
                <a:solidFill>
                  <a:srgbClr val="00B050"/>
                </a:solidFill>
              </a:rPr>
            </a:br>
            <a:r>
              <a:rPr lang="de-DE" sz="3100" dirty="0">
                <a:solidFill>
                  <a:srgbClr val="00B050"/>
                </a:solidFill>
              </a:rPr>
              <a:t>Eine Idee von Nikolai Friedrich, Erik </a:t>
            </a:r>
            <a:r>
              <a:rPr lang="de-DE" sz="3100" dirty="0" err="1">
                <a:solidFill>
                  <a:srgbClr val="00B050"/>
                </a:solidFill>
              </a:rPr>
              <a:t>Storma</a:t>
            </a:r>
            <a:r>
              <a:rPr lang="de-DE" sz="3100" dirty="0">
                <a:solidFill>
                  <a:srgbClr val="00B050"/>
                </a:solidFill>
              </a:rPr>
              <a:t>, Henning Rixen, Adrian </a:t>
            </a:r>
            <a:r>
              <a:rPr lang="de-DE" sz="3100" dirty="0" err="1">
                <a:solidFill>
                  <a:srgbClr val="00B050"/>
                </a:solidFill>
              </a:rPr>
              <a:t>Neve</a:t>
            </a:r>
            <a:r>
              <a:rPr lang="de-DE" sz="3100" dirty="0">
                <a:solidFill>
                  <a:srgbClr val="00B050"/>
                </a:solidFill>
              </a:rPr>
              <a:t> und Leon </a:t>
            </a:r>
            <a:r>
              <a:rPr lang="de-DE" sz="3100" dirty="0" err="1">
                <a:solidFill>
                  <a:srgbClr val="00B050"/>
                </a:solidFill>
              </a:rPr>
              <a:t>Bischur</a:t>
            </a:r>
            <a:endParaRPr lang="de-DE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780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</Words>
  <Application>Microsoft Office PowerPoint</Application>
  <PresentationFormat>Breitbild</PresentationFormat>
  <Paragraphs>226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        „Proginator“   Eine Idee von Nikolai Friedrich, Erik Storma, Henning Rixen, Adrian Neve und Leon Bischur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Friedrich, Nikolai</dc:creator>
  <cp:lastModifiedBy>Friedrich, Nikolai</cp:lastModifiedBy>
  <cp:revision>2</cp:revision>
  <dcterms:created xsi:type="dcterms:W3CDTF">2025-10-29T17:20:55Z</dcterms:created>
  <dcterms:modified xsi:type="dcterms:W3CDTF">2025-11-02T12:20:06Z</dcterms:modified>
</cp:coreProperties>
</file>